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05f09cc11145bc" /><Relationship Type="http://schemas.openxmlformats.org/officeDocument/2006/relationships/extended-properties" Target="/docProps/app.xml" Id="R0092af21ed984ccb" /><Relationship Type="http://schemas.openxmlformats.org/officeDocument/2006/relationships/officeDocument" Target="/ppt/presentation.xml" Id="R9f4f76d9eb144a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2bd6aad81443fd"/>
  </p:sldMasterIdLst>
  <p:notesMasterIdLst>
    <p:notesMasterId xmlns:r="http://schemas.openxmlformats.org/officeDocument/2006/relationships" r:id="Rbad8af18c1fc4cea"/>
  </p:notesMasterIdLst>
  <p:sldIdLst>
    <p:sldId xmlns:r="http://schemas.openxmlformats.org/officeDocument/2006/relationships" id="256" r:id="R9d78077cfaea4b2e"/>
    <p:sldId xmlns:r="http://schemas.openxmlformats.org/officeDocument/2006/relationships" id="257" r:id="R05f93eac21a249f5"/>
    <p:sldId xmlns:r="http://schemas.openxmlformats.org/officeDocument/2006/relationships" id="258" r:id="Rbaeb266d6f5e4909"/>
    <p:sldId xmlns:r="http://schemas.openxmlformats.org/officeDocument/2006/relationships" id="259" r:id="Rcc305f9753cc45ab"/>
    <p:sldId xmlns:r="http://schemas.openxmlformats.org/officeDocument/2006/relationships" id="260" r:id="Rf595888e23bf495d"/>
    <p:sldId xmlns:r="http://schemas.openxmlformats.org/officeDocument/2006/relationships" id="261" r:id="R9f08cf956dc243a6"/>
    <p:sldId xmlns:r="http://schemas.openxmlformats.org/officeDocument/2006/relationships" id="262" r:id="R26496246fb224fe4"/>
    <p:sldId xmlns:r="http://schemas.openxmlformats.org/officeDocument/2006/relationships" id="263" r:id="Rfb98a90509e448f2"/>
    <p:sldId xmlns:r="http://schemas.openxmlformats.org/officeDocument/2006/relationships" id="264" r:id="R35f1b19c864a4316"/>
    <p:sldId xmlns:r="http://schemas.openxmlformats.org/officeDocument/2006/relationships" id="265" r:id="R8940486e17784d44"/>
    <p:sldId xmlns:r="http://schemas.openxmlformats.org/officeDocument/2006/relationships" id="266" r:id="R757d82b0e7134061"/>
    <p:sldId xmlns:r="http://schemas.openxmlformats.org/officeDocument/2006/relationships" id="267" r:id="Rf060838c6f264ce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6fcfb0c9504487" /><Relationship Type="http://schemas.openxmlformats.org/officeDocument/2006/relationships/slideMaster" Target="/ppt/slideMasters/slideMaster1.xml" Id="Rb52bd6aad81443fd" /><Relationship Type="http://schemas.openxmlformats.org/officeDocument/2006/relationships/notesMaster" Target="/ppt/notesMasters/notesMaster1.xml" Id="Rbad8af18c1fc4cea" /><Relationship Type="http://schemas.openxmlformats.org/officeDocument/2006/relationships/presProps" Target="/ppt/presProps.xml" Id="R6a3c3f66e22d4400" /><Relationship Type="http://schemas.openxmlformats.org/officeDocument/2006/relationships/tableStyles" Target="/ppt/tableStyles.xml" Id="R925522c882b746a1" /><Relationship Type="http://schemas.openxmlformats.org/officeDocument/2006/relationships/slide" Target="/ppt/slides/slide1.xml" Id="R9d78077cfaea4b2e" /><Relationship Type="http://schemas.openxmlformats.org/officeDocument/2006/relationships/slide" Target="/ppt/slides/slide2.xml" Id="R05f93eac21a249f5" /><Relationship Type="http://schemas.openxmlformats.org/officeDocument/2006/relationships/slide" Target="/ppt/slides/slide3.xml" Id="Rbaeb266d6f5e4909" /><Relationship Type="http://schemas.openxmlformats.org/officeDocument/2006/relationships/slide" Target="/ppt/slides/slide4.xml" Id="Rcc305f9753cc45ab" /><Relationship Type="http://schemas.openxmlformats.org/officeDocument/2006/relationships/slide" Target="/ppt/slides/slide5.xml" Id="Rf595888e23bf495d" /><Relationship Type="http://schemas.openxmlformats.org/officeDocument/2006/relationships/slide" Target="/ppt/slides/slide6.xml" Id="R9f08cf956dc243a6" /><Relationship Type="http://schemas.openxmlformats.org/officeDocument/2006/relationships/slide" Target="/ppt/slides/slide7.xml" Id="R26496246fb224fe4" /><Relationship Type="http://schemas.openxmlformats.org/officeDocument/2006/relationships/slide" Target="/ppt/slides/slide8.xml" Id="Rfb98a90509e448f2" /><Relationship Type="http://schemas.openxmlformats.org/officeDocument/2006/relationships/slide" Target="/ppt/slides/slide9.xml" Id="R35f1b19c864a4316" /><Relationship Type="http://schemas.openxmlformats.org/officeDocument/2006/relationships/slide" Target="/ppt/slides/slide10.xml" Id="R8940486e17784d44" /><Relationship Type="http://schemas.openxmlformats.org/officeDocument/2006/relationships/slide" Target="/ppt/slides/slide11.xml" Id="R757d82b0e7134061" /><Relationship Type="http://schemas.openxmlformats.org/officeDocument/2006/relationships/slide" Target="/ppt/slides/slide12.xml" Id="Rf060838c6f264c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d413c8272344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345b48cd3946c1" /><Relationship Type="http://schemas.openxmlformats.org/officeDocument/2006/relationships/notesMaster" Target="/ppt/notesMasters/notesMaster1.xml" Id="R78b9d2b550f949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4e5a806193464b" /><Relationship Type="http://schemas.openxmlformats.org/officeDocument/2006/relationships/notesMaster" Target="/ppt/notesMasters/notesMaster1.xml" Id="R42f4c7bb4eac47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19ebe77ec74af6" /><Relationship Type="http://schemas.openxmlformats.org/officeDocument/2006/relationships/notesMaster" Target="/ppt/notesMasters/notesMaster1.xml" Id="R21b40bb01c9c44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675866e5064097" /><Relationship Type="http://schemas.openxmlformats.org/officeDocument/2006/relationships/notesMaster" Target="/ppt/notesMasters/notesMaster1.xml" Id="R7b42efe4fd1346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13d5c024ba45d7" /><Relationship Type="http://schemas.openxmlformats.org/officeDocument/2006/relationships/notesMaster" Target="/ppt/notesMasters/notesMaster1.xml" Id="R7a13c505ea4740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cb19251c0e477a" /><Relationship Type="http://schemas.openxmlformats.org/officeDocument/2006/relationships/notesMaster" Target="/ppt/notesMasters/notesMaster1.xml" Id="R40cd55092c4641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60d07797034f2e" /><Relationship Type="http://schemas.openxmlformats.org/officeDocument/2006/relationships/notesMaster" Target="/ppt/notesMasters/notesMaster1.xml" Id="Rdfd3fe9a86984e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f7bed8290b46d7" /><Relationship Type="http://schemas.openxmlformats.org/officeDocument/2006/relationships/notesMaster" Target="/ppt/notesMasters/notesMaster1.xml" Id="R02138f41c0404a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10f57b853df48b6" /><Relationship Type="http://schemas.openxmlformats.org/officeDocument/2006/relationships/notesMaster" Target="/ppt/notesMasters/notesMaster1.xml" Id="R5f6ec6afb665440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018956f29b74e66" /><Relationship Type="http://schemas.openxmlformats.org/officeDocument/2006/relationships/notesMaster" Target="/ppt/notesMasters/notesMaster1.xml" Id="R4df5f4a92ef5493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d7a765342e54afd" /><Relationship Type="http://schemas.openxmlformats.org/officeDocument/2006/relationships/notesMaster" Target="/ppt/notesMasters/notesMaster1.xml" Id="R8a03eed99999475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2211e30dbd2416b" /><Relationship Type="http://schemas.openxmlformats.org/officeDocument/2006/relationships/notesMaster" Target="/ppt/notesMasters/notesMaster1.xml" Id="Rfd5ab34960fa46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docs/BioPrint_Active_Passive_Handout.md;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docs/BioPrint_Active_Passive_Handout.md sections 1–3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server/http.js; server/login.js; docs/ACTIVE_PASSIVE_IMPLEMENTATION.md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server/passive.js; client/passive.js; docs/BioPrint_Active_Passive_Handout.md sections 5–10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server/features/index.js; server/matching/index.js; server/policy.js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server/core.js; client/sdk.js; server/scoring.js; server/features/optional.js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server/login.js; server/core.js; server/security/replay.js; server/security/automation.js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server/login.js; server/passive-adaptation.js; docs/VALIDATION_CHECKLIST.md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client/app.js; docs/BioPrint_Active_Passive_Handout.md sections 35–36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server/login-evaluation.js; server/policy.js; docs/EVALUATION.md; docs/VALIDATION_CHECKLIST.md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docs/WORKLOG.md checkpoints 11–14; docs/VALIDATION_CHECKLIST.md; docs/EVALUATION.md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README.md; docs/ACTIVE_PASSIVE_IMPLEMENTATION.md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f177137b3e4d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57de44a99848bb" /><Relationship Type="http://schemas.openxmlformats.org/officeDocument/2006/relationships/slideLayout" Target="/ppt/slideLayouts/slideLayout1.xml" Id="Ra869383883cb4a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69383883cb4a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5334e189949c4" /><Relationship Type="http://schemas.openxmlformats.org/officeDocument/2006/relationships/notesSlide" Target="/ppt/notesSlides/notesSlide1.xml" Id="R6f5836d8ab324d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1230a9fb1c42b2" /><Relationship Type="http://schemas.openxmlformats.org/officeDocument/2006/relationships/notesSlide" Target="/ppt/notesSlides/notesSlide2.xml" Id="Rd93731bb96fc46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6d33d6ad354f8a" /><Relationship Type="http://schemas.openxmlformats.org/officeDocument/2006/relationships/notesSlide" Target="/ppt/notesSlides/notesSlide3.xml" Id="R1a5e8c3d874941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18aabf3d2f4d35" /><Relationship Type="http://schemas.openxmlformats.org/officeDocument/2006/relationships/notesSlide" Target="/ppt/notesSlides/notesSlide4.xml" Id="Rfaf89ea6bdbd46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66151d5d149f9" /><Relationship Type="http://schemas.openxmlformats.org/officeDocument/2006/relationships/notesSlide" Target="/ppt/notesSlides/notesSlide5.xml" Id="R2ed54e288b684c5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9560894a68477a" /><Relationship Type="http://schemas.openxmlformats.org/officeDocument/2006/relationships/notesSlide" Target="/ppt/notesSlides/notesSlide6.xml" Id="Rd0eb413c6fc040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ccc5ca5899464f" /><Relationship Type="http://schemas.openxmlformats.org/officeDocument/2006/relationships/notesSlide" Target="/ppt/notesSlides/notesSlide7.xml" Id="R462fd913f3a742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98edb166c64cd9" /><Relationship Type="http://schemas.openxmlformats.org/officeDocument/2006/relationships/notesSlide" Target="/ppt/notesSlides/notesSlide8.xml" Id="Rbccdb1d21595492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33d0fdde0d4e78" /><Relationship Type="http://schemas.openxmlformats.org/officeDocument/2006/relationships/notesSlide" Target="/ppt/notesSlides/notesSlide9.xml" Id="Raa298f15633b449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f20f48992644c0" /><Relationship Type="http://schemas.openxmlformats.org/officeDocument/2006/relationships/notesSlide" Target="/ppt/notesSlides/notesSlide10.xml" Id="R8f49b1392b77455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ea9f52fe549a4" /><Relationship Type="http://schemas.openxmlformats.org/officeDocument/2006/relationships/notesSlide" Target="/ppt/notesSlides/notesSlide11.xml" Id="R3b23c08f9763454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357829af324772" /><Relationship Type="http://schemas.openxmlformats.org/officeDocument/2006/relationships/notesSlide" Target="/ppt/notesSlides/notesSlide12.xml" Id="R92c707a598654f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A725AD-1C4C-4BAD-8898-C16576A8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BEHAVIOR AS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EBFE3A-D093-49FB-99CB-9D23E2FE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85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49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BioPrint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6A6E54-FBFF-48E5-B637-9BA6FC81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7DE0B1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7DE0B1"/>
                </a:solidFill>
                <a:latin typeface="Aptos"/>
                <a:ea typeface="Aptos"/>
                <a:cs typeface="Aptos"/>
              </a:rPr>
              <a:t>Passive-first behavioral authentication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BE37A9-8F4F-405A-AADF-4C083E01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A normal login stays normal when the evidence is strong.</a:t>
            </a:r>
          </a:p>
          <a:p xmlns:a="http://schemas.openxmlformats.org/drawingml/2006/main">
            <a:pPr>
              <a:defRPr sz="157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The system asks for more only when the session needs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A686C3-25BE-40CE-8648-6C281D54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257300"/>
            <a:ext cx="3048000" cy="3429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E1B6CE-8E65-4CEE-943F-A40D2E2A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764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PASSWORD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7E70FA-85AE-4F9D-8A3A-B19EF693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431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••••••••••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5974B7-DDFA-4299-9302-FED047E1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09850"/>
            <a:ext cx="22288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5F0898-A3B3-41E3-AF2C-BCD8E455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718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PASSIVE SIGNALS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D28954-68D2-4A76-94D4-69C2076B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5755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typing rhythm</a:t>
            </a:r>
          </a:p>
          <a:p xmlns:a="http://schemas.openxmlformats.org/drawingml/2006/main">
            <a:pPr>
              <a:defRPr sz="14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field transitions</a:t>
            </a:r>
          </a:p>
          <a:p xmlns:a="http://schemas.openxmlformats.org/drawingml/2006/main">
            <a:pPr>
              <a:defRPr sz="14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submit approach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6A0787-1323-42F7-8107-CB206C9F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05300"/>
            <a:ext cx="10668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9F28F"/>
          </a:solidFill>
          <a:ln xmlns:a="http://schemas.openxmlformats.org/drawingml/2006/main" w="9525">
            <a:solidFill>
              <a:srgbClr val="B9F28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28BA85-FC65-4276-ABCB-AB096134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5292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ACCEPT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0BA3A2-EE9E-45DA-A8F0-C31240FA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434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or trigger a short active check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359E07-DD24-4486-B1AD-702F1320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Hackathon build • v0.4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5AE5E4-5A5E-4A27-8EC1-E7924EE7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0A8C64-9B77-4D3F-BE87-3163B6AD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781169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3C554E-4B98-4932-9CC8-C1B9DDDF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57F217-A830-475C-BF26-6DB5251E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Passwords prove knowledge. They do not prove continuity.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C3DAC-7306-43A9-8D4C-AE1C6A01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Behavioral signals can add confidence without adding friction to every login.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786727-4344-4C50-A8E5-348B82C7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238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F66206-4E4A-4AC1-962F-224C8658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EVERY LOGIN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48C5F4-61B0-4FC0-9086-E3F18F35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8E8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8E86"/>
                </a:solidFill>
                <a:latin typeface="Aptos"/>
                <a:ea typeface="Aptos"/>
                <a:cs typeface="Aptos"/>
              </a:rPr>
              <a:t>Challenge the user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893521-8978-4771-8514-FA5C5239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7185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Strong evidence,</a:t>
            </a:r>
          </a:p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constant friction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BDE688-1BE8-41DF-89F1-A602E822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3238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AAAC56-B963-4CB3-BC49-2104ADC0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812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NO CHALLENGE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C0D3B1-E5F1-4695-B5E0-BA0BAE75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622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4C76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4C76B"/>
                </a:solidFill>
                <a:latin typeface="Aptos"/>
                <a:ea typeface="Aptos"/>
                <a:cs typeface="Aptos"/>
              </a:rPr>
              <a:t>Trust the password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1AE910-0349-4276-830D-36B48237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7185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Low friction,</a:t>
            </a:r>
          </a:p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weak continuity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9A9D6E-74A5-4DBF-94F9-0A88A191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38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A3022"/>
          </a:solidFill>
          <a:ln xmlns:a="http://schemas.openxmlformats.org/drawingml/2006/main" w="9525">
            <a:solidFill>
              <a:srgbClr val="7DE0B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857200-7DD8-4DE2-9665-B3CEA78E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812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BIOPRINT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7E07B4-FE9B-4E3F-A59F-E702E313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622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Observe first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27945D-C997-4616-B4D9-236B27A7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718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Accept strong passive</a:t>
            </a:r>
          </a:p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evidence. Step up uncertainty.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7515B5-B656-4BD8-8AC0-9CC1C372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381375"/>
            <a:ext cx="5524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B851BA-CF51-4182-A52F-DEA398D1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81375"/>
            <a:ext cx="5524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8F880B-3B26-4D36-8506-04538EAC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DE0B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DE0B1"/>
                </a:solidFill>
                <a:latin typeface="Aptos"/>
                <a:ea typeface="Aptos"/>
                <a:cs typeface="Aptos"/>
              </a:rPr>
              <a:t>The design goal: adaptive friction, with identity, humanity, quality and freshness kept separate.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BF58D6-B0A6-4BC4-B221-4124FF7C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D1C91E-32EF-4C51-AB18-82389FCA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362559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CC8F30-6BDE-4DAA-A658-0C2A396E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USER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E43DA1-F387-401D-93F5-5B8C266A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One login. Three possible outcomes.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910687-B9CF-4FE6-9CC7-CB3768DB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The server checks the password separately from behavioral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155887-B0BE-4D91-99AE-1FB18049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62200"/>
            <a:ext cx="17907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1CBCE7-E94A-40EF-BB08-538AB2BD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336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50DB96-20C8-44C6-8E56-F98BE2BC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765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Username +</a:t>
            </a:r>
          </a:p>
          <a:p xmlns:a="http://schemas.openxmlformats.org/drawingml/2006/main">
            <a:pPr>
              <a:defRPr sz="15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password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BC4A83-8E3E-4721-B5C4-F836BBAD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28950"/>
            <a:ext cx="514350" cy="953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7DE0B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977370-3040-4F45-9483-E3514A3D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62200"/>
            <a:ext cx="17907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A12C5C-523D-4D0E-B772-A1CCCE19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336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F47B52-82A8-420F-8CC6-B18907FE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765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Passive</a:t>
            </a:r>
          </a:p>
          <a:p xmlns:a="http://schemas.openxmlformats.org/drawingml/2006/main">
            <a:pPr>
              <a:defRPr sz="15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verification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29D89E-E849-4B10-8F0C-094B0EE2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28950"/>
            <a:ext cx="514350" cy="953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7DE0B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041911-B618-42DD-90C6-6FF9D2C7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62200"/>
            <a:ext cx="17907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A3022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B815D3-101E-4569-BC8F-5FB2D73C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336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6CA9C2-4E92-4BF9-BE03-11AAA284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765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Decision</a:t>
            </a:r>
          </a:p>
          <a:p xmlns:a="http://schemas.openxmlformats.org/drawingml/2006/main">
            <a:pPr>
              <a:defRPr sz="15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zone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4B47C4-3381-41DA-8C96-50094462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28950"/>
            <a:ext cx="514350" cy="953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7DE0B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8C630F-A619-4704-B4EF-A63D5426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62200"/>
            <a:ext cx="17907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4960A3-E65B-462E-98E9-7C7D3A3D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336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9E2AD3-E326-4FAA-85E8-ECDB63D5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765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Optional active</a:t>
            </a:r>
          </a:p>
          <a:p xmlns:a="http://schemas.openxmlformats.org/drawingml/2006/main">
            <a:pPr>
              <a:defRPr sz="15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step-up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68999A-D698-4C90-9D69-82C77F7D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76700"/>
            <a:ext cx="17907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B9F28F"/>
          </a:solidFill>
          <a:ln xmlns:a="http://schemas.openxmlformats.org/drawingml/2006/main" w="9525">
            <a:solidFill>
              <a:srgbClr val="B9F28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3FFF94-6086-44D6-BA97-6E039026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05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ACCEPT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1F9D05-1A85-4400-BFA9-EC2B3EEB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76700"/>
            <a:ext cx="17907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4C76B"/>
          </a:solidFill>
          <a:ln xmlns:a="http://schemas.openxmlformats.org/drawingml/2006/main" w="9525">
            <a:solidFill>
              <a:srgbClr val="F4C76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E5AA91-9FEF-4975-9BA9-6A789B5E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05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STEP UP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2F28D8-F7FC-4DA3-A96E-2874959D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95700"/>
            <a:ext cx="953" cy="3810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B9F28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3DA3C1-21FA-4A49-979E-087B850E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95700"/>
            <a:ext cx="953" cy="3810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4C76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92E838-3F08-4591-A4E7-0F5642C3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Hard failures bypass step-up: replay, malformed telemetry, wrong password, clear automation.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63A7FD-1C69-4489-8D93-B51CFEF1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6A7797-1D20-404A-8BB8-61BFB7A8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825714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07F26D-7611-4F66-B614-386C5C27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PASSIVE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D36902-34AB-4FE7-9EB2-8947042B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The login form becomes a behavioral trace.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0D2984-2CE5-446D-9B3E-57537B22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We collect timing and motion context, while keeping credential content out of the biometric record.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D42CBC-3660-4856-AA95-DC0FCE87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KEYBOARD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9D20CF-8C64-4EFC-B6F7-A551E650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21907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8ADE38-A9F6-402E-BD37-B484BA7B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2190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username dwell
DD / UD flight
digraphs, pauses
corrections, Shift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8BAF80-22D2-4F54-AA14-0A3C326F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860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POINTER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969B28-B4BF-420A-8B79-4B8B8853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19375"/>
            <a:ext cx="21907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5F8B8E-CC91-4C39-90A6-26082F08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95600"/>
            <a:ext cx="2190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velocity / acceleration
curvature proxy
approach angle
click hold + location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005B69-A554-44D2-8B5E-89B42928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860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CROSS-MODAL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01E4C7-1AD6-4FDC-B9AC-47B52BC4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19375"/>
            <a:ext cx="21907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93B039-BE7E-4BB5-8F30-A9177331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95600"/>
            <a:ext cx="2190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username → password
password → pointer
arrival → click
Tab vs field click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97CB1D-BE3E-4ECA-AB95-37C3F662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860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4C76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C76B"/>
                </a:solidFill>
                <a:latin typeface="Aptos"/>
                <a:ea typeface="Aptos"/>
                <a:cs typeface="Aptos"/>
              </a:rPr>
              <a:t>PRIVACY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920455-ACAF-4934-96EE-495E9C66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19375"/>
            <a:ext cx="21907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12B17C-F5B7-4328-8B96-1D18F137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95600"/>
            <a:ext cx="2190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password key/code/value
never retained
autofill = unavailable
strict event allowlist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326E58-3C37-41A6-A240-88A2E1A4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A3022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94068A-86FA-4792-942D-67551674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816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DE0B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DE0B1"/>
                </a:solidFill>
                <a:latin typeface="Aptos"/>
                <a:ea typeface="Aptos"/>
                <a:cs typeface="Aptos"/>
              </a:rPr>
              <a:t>Quality is separate from similarity: missing keyboard evidence lowers Q, not identity to zero.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8C55B5-371C-4BAC-820F-64D1D30D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DD1721-6E2F-43BE-95C2-F7C0CFA6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622852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FAD419-C8D6-429A-B2DE-6DFEA181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MATCHING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74C86A-AA14-4199-8045-77C865C5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Robust statistics first. Sequence matching when the evidence supports 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03884D-1227-4528-A763-CBE288EE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The matcher treats speed changes as timing variation, not automatic mismatch.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2EF2E7-FF82-4A3E-8332-4579A810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857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0F8D9-87F7-4E2F-AA1C-43D74B4E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1  FEATURE EXTRACTION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141636-3C6C-4A47-8DE1-D6322373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38450"/>
            <a:ext cx="2286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Median</a:t>
            </a:r>
          </a:p>
          <a:p xmlns:a="http://schemas.openxmlformats.org/drawingml/2006/main">
            <a:pPr>
              <a:defRPr sz="18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MAD scale</a:t>
            </a:r>
          </a:p>
          <a:p xmlns:a="http://schemas.openxmlformats.org/drawingml/2006/main">
            <a:pPr>
              <a:defRPr sz="18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Per-feature reliability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A0FEF7-4890-42D1-ADFD-B776FE8C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Resists outliers and keeps weak modalities from dominating.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C9B133-1548-484C-8E58-B9434F2B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0"/>
            <a:ext cx="2857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739857-22F6-463E-90CF-C272CC6F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3622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2  EXAMPLAR + DTW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5EF379-1BA2-4A83-A881-785A4E66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38450"/>
            <a:ext cx="228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Nearest genuine traces</a:t>
            </a:r>
          </a:p>
          <a:p xmlns:a="http://schemas.openxmlformats.org/drawingml/2006/main">
            <a:pPr>
              <a:defRPr sz="16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Bounded DTW</a:t>
            </a:r>
          </a:p>
          <a:p xmlns:a="http://schemas.openxmlformats.org/drawingml/2006/main">
            <a:pPr>
              <a:defRPr sz="16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Keyboard + pointer + touch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75826C-4D48-481A-9EAD-265E5CB2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0957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Compares shape and rhythm across slightly faster or slower sessions.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A6AAD6-FA08-4EEA-8463-D538A7BE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95500"/>
            <a:ext cx="2857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1A3022"/>
          </a:solidFill>
          <a:ln xmlns:a="http://schemas.openxmlformats.org/drawingml/2006/main" w="9525">
            <a:solidFill>
              <a:srgbClr val="7DE0B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216025-CD73-486F-89C8-6648E57E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622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3  QUALITY-AWARE FUSION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49A328-D1D2-49AE-B569-2337F0D1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38450"/>
            <a:ext cx="2286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Identity</a:t>
            </a:r>
          </a:p>
          <a:p xmlns:a="http://schemas.openxmlformats.org/drawingml/2006/main">
            <a:pPr>
              <a:defRPr sz="18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Humanity</a:t>
            </a:r>
          </a:p>
          <a:p xmlns:a="http://schemas.openxmlformats.org/drawingml/2006/main">
            <a:pPr>
              <a:defRPr sz="18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Quality</a:t>
            </a:r>
          </a:p>
          <a:p xmlns:a="http://schemas.openxmlformats.org/drawingml/2006/main">
            <a:pPr>
              <a:defRPr sz="18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Freshness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3A2343-6C89-411B-B53F-1CE7EF54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957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Each stays visible to policy and explainability.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89799A-50AF-4D8F-B64B-9EE560B9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67100"/>
            <a:ext cx="1123950" cy="953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7DE0B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B481E3-A3E1-4D1D-B56E-4AC43F24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67100"/>
            <a:ext cx="1123950" cy="953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7DE0B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7904EE-3FE1-421C-B55A-2017D514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C76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C76B"/>
                </a:solidFill>
                <a:latin typeface="Aptos"/>
                <a:ea typeface="Aptos"/>
                <a:cs typeface="Aptos"/>
              </a:rPr>
              <a:t>Active matching is shadow by default. A recorded, session-separated evaluation report gates activation.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353832-2A04-4B8D-8F01-E9D16258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0B7E4B-DC21-44A3-A9C7-33A51CA7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82137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A4975F-BE67-4644-8448-4ACDF50B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ACTIVE STEP-UP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C3D9F7-0B06-465F-8662-A1545B87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A few seconds of controlled, higher-information behavior.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7E8703-3768-4D1E-920A-615256A8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The challenge randomizes geometry so the user repeats a task, not a fixed path.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5DB8AF-B469-40C9-9F20-D394086C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762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A79CDE-3578-4A40-B942-A81D8005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CONTROLLED TYPING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E83AEC-ACD8-4697-9A2D-F2CFF6E8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“Bright little forest 26”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39469B-DC6D-4A48-9866-57825820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671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Known phrase enables contextual dwell, flight, correction and Shift comparisons.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7DF56D-2B73-4258-B34F-D220EC6F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95500"/>
            <a:ext cx="53530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7DB855-E9F0-43B8-A752-59FCD9FD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81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TARGET TASK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139440-001E-4AE8-97C5-C51C1ECB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71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28F"/>
          </a:solidFill>
          <a:ln xmlns:a="http://schemas.openxmlformats.org/drawingml/2006/main" w="0">
            <a:solidFill>
              <a:srgbClr val="B9F28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701940-6A03-4FF7-A658-8C6D0C6C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057525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E5F255-1810-4456-B58C-8A7421C7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81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E0B1"/>
          </a:solidFill>
          <a:ln xmlns:a="http://schemas.openxmlformats.org/drawingml/2006/main" w="0">
            <a:solidFill>
              <a:srgbClr val="7DE0B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B3511A-A75E-4381-BDEC-6B141709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867025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CF9733-5A27-4BC2-ADAE-E86050E7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67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E0B1"/>
          </a:solidFill>
          <a:ln xmlns:a="http://schemas.openxmlformats.org/drawingml/2006/main" w="0">
            <a:solidFill>
              <a:srgbClr val="7DE0B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6C58E3-B142-4B41-8B4F-16FA0AE7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952875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7EC7B8-C177-414D-A0B2-B9BD6415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305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E0B1"/>
          </a:solidFill>
          <a:ln xmlns:a="http://schemas.openxmlformats.org/drawingml/2006/main" w="0">
            <a:solidFill>
              <a:srgbClr val="7DE0B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D91085-20F7-4C50-B32E-C8FDC229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4391025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42FC77-9E47-44A8-AC57-02E2574E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3028950" cy="1905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9BBA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DFA9FF-F51E-4158-B040-83EE59A1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0"/>
            <a:ext cx="1695450" cy="10858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9BBA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410BEC-44DF-4AC3-B131-68EDAA6A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38600"/>
            <a:ext cx="1905000" cy="4381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9BBA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FDC79A-0203-427E-9FDE-EF512FB6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910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Randomized position, radius, order, distance and direction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8FC2C6-6429-4966-911E-046391FA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Touch and pen use drag equivalents. Motion, scroll and stylus fields remain optional and unavailable when the device cannot provide them.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0389FE-670D-4651-8B4E-A052984E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F80BA6-1070-476A-80EA-F1DC0FB8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126287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B1C4FC-326B-4E3D-935D-B9FC26D3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SECURITY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041EAB-883C-4A9B-BFD0-E7BBFE3C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Separate gates keep a high similarity score from becoming blind trust.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61BCE1-5F90-44DB-BDB2-E9AA769F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The verifier consumes challenges before parsing evidence and binds them to user, device and cookie.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0C7CA2-A887-43E9-8A5B-F95A15F3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28F"/>
          </a:solidFill>
          <a:ln xmlns:a="http://schemas.openxmlformats.org/drawingml/2006/main" w="0">
            <a:solidFill>
              <a:srgbClr val="B9F28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228E57-89F8-40D2-8D0C-13FE2FAB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717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IDENTITY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A6A25F-07C3-457C-A0BA-D8534FA0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71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Does the behavior resemble this profile?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4E9939-5584-450D-B492-65BA5671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24100"/>
            <a:ext cx="27622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83A059-A987-4278-B566-0FEA60A4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717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Robust match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AB3901-1586-4FAC-97E5-FE6EF2A6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E0B1"/>
          </a:solidFill>
          <a:ln xmlns:a="http://schemas.openxmlformats.org/drawingml/2006/main" w="0">
            <a:solidFill>
              <a:srgbClr val="7DE0B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713051-EE74-41D5-90C1-DFA5B562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527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DE0B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DE0B1"/>
                </a:solidFill>
                <a:latin typeface="Aptos"/>
                <a:ea typeface="Aptos"/>
                <a:cs typeface="Aptos"/>
              </a:rPr>
              <a:t>HUMANITY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1F185A-0C84-4B7A-8081-90C4F48D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52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Does the session look like a person?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5E9CF6-A71E-4EB8-8908-556483F1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05150"/>
            <a:ext cx="27622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950AC2-F11E-4C62-B310-82DD95D6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527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Automation heuristics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A8760D-9BEA-4DC8-AC67-4EF7688C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76B"/>
          </a:solidFill>
          <a:ln xmlns:a="http://schemas.openxmlformats.org/drawingml/2006/main" w="0">
            <a:solidFill>
              <a:srgbClr val="F4C76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B7CBD2-0E1C-4406-9627-82AAFB35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338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4C7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C76B"/>
                </a:solidFill>
                <a:latin typeface="Aptos"/>
                <a:ea typeface="Aptos"/>
                <a:cs typeface="Aptos"/>
              </a:rPr>
              <a:t>QUALITY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FC4CDE-17FF-4DB2-9E80-3862BC1A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338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Is there enough comparable evidence?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26ADB1-EC6D-4E71-8921-53406A5E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86200"/>
            <a:ext cx="27622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7B7762-238F-45D3-BD6C-E48EBCAC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33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Modality coverage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D0E17F-12C8-4BDD-8096-4FFCC490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E86"/>
          </a:solidFill>
          <a:ln xmlns:a="http://schemas.openxmlformats.org/drawingml/2006/main" w="0">
            <a:solidFill>
              <a:srgbClr val="FF8E8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88B93F-8E52-43F1-818D-FF06AC92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148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8E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8E86"/>
                </a:solidFill>
                <a:latin typeface="Aptos"/>
                <a:ea typeface="Aptos"/>
                <a:cs typeface="Aptos"/>
              </a:rPr>
              <a:t>FRESHNESS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F28669-6F37-40A9-B714-9B51BD1D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14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Is this session current and unused?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B5550B-678C-4067-9EE4-7533417B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67250"/>
            <a:ext cx="27622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61CABB-A2E7-4461-BA8A-F816137F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148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Nonce / expiry / replay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179D5E-AF36-45A7-9E0B-34AE6CD3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A3022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CC3C0F-2B87-4EBE-9F90-7AC141BC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8E8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8E86"/>
                </a:solidFill>
                <a:latin typeface="Aptos"/>
                <a:ea typeface="Aptos"/>
                <a:cs typeface="Aptos"/>
              </a:rPr>
              <a:t>Hard reject: wrong password, malformed stream, exact / near replay, expired challenge or clear automation.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F911AB-87ED-4A6F-870C-916829AB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EA524E-4C21-4ACB-BD7B-CC438A1D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19692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2277F8-6881-4FD6-A681-42DD48CF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ENROLLMENT + DEVICES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B899AF-8435-4CC6-A7E8-C23F7968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Trust grows through repeated evidence, not one lucky login.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32EC46-E724-471D-AF7A-49E59408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Shared models, active models and device models evolve on different rules.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0E4751-6414-4F02-8C64-40EAC8EB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INITIAL ENROLLMENT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97675B-DEF8-4F38-9C9B-E190992C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526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6 passive rounds + 8 active rounds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E521B5-AECA-4FBA-B725-D068F9E2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01536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8A1AFA-5CDC-4C1E-B24D-05833C9A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4C7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C76B"/>
                </a:solidFill>
                <a:latin typeface="Aptos"/>
                <a:ea typeface="Aptos"/>
                <a:cs typeface="Aptos"/>
              </a:rPr>
              <a:t>NEW DEVICE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637E69-FE3C-453A-8EAB-168D6A15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432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Explicit six-round device enrollment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83A831-79CF-42FA-A191-FAC30A51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1536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CE9C34-5EA6-4F60-AB4C-47245742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DE0B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DE0B1"/>
                </a:solidFill>
                <a:latin typeface="Aptos"/>
                <a:ea typeface="Aptos"/>
                <a:cs typeface="Aptos"/>
              </a:rPr>
              <a:t>DRIFT ADAPTATION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794982-8305-4220-93BC-D4626470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338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4 consistent sessions, ≥10 min apart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F14728-D3D3-497C-8399-F3B9AD9D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1536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6D348B-2118-4EB3-88D8-3F5402D7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3528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62307E-DF86-4991-A74E-22314D33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050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GUARDRAILS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8E4638-72D5-4D61-AAD7-352C2982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24150"/>
            <a:ext cx="266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Shared anchor stays fixed</a:t>
            </a:r>
          </a:p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Unknown devices stay candidates</a:t>
            </a:r>
          </a:p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Original device model stays immutable</a:t>
            </a:r>
          </a:p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Thresholds never decrease</a:t>
            </a:r>
          </a:p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Continuous windows never train profiles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059A86-D32C-4722-B1D3-BFF3A4CC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The local demo uses a fixed enrollment key and password. A real integration supplies account verification and protected sessions.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6D1A37-5051-4A0A-841F-DD2767F8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16E4E5-F811-4D3E-BDAA-77ADFA5E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453890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A13C13-A94D-4885-96BB-35EC18C0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EXPLAINABILITY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AA1989-9FFA-4C68-BBCC-55FF3FAF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The result tells the operator why the system accepted, stepped up or rejected.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0603ED-C240-4D9D-B71F-E85B0408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A score without context is hard to review. BioPrint exposes the evidence dimensions separately.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732A4E-8CFA-45BC-9FAC-AD7E8F18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1435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41CD33-4696-4188-B452-BB9727DE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PASSIVE VERIFICATION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FFDD1D-14C9-44F2-B069-B6BF0F42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765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Identity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E64B0B-2F9F-41B9-B263-D6C3E1A1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8765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0.91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9FFE6B-1989-43C3-BE6C-D6386C76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41910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6AECB-CF66-4BA9-90D9-DBBF3CE8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147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Evidence quality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B163B5-F58B-4ADF-BB4E-11DB50A5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147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C76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C76B"/>
                </a:solidFill>
                <a:latin typeface="Aptos"/>
                <a:ea typeface="Aptos"/>
                <a:cs typeface="Aptos"/>
              </a:rPr>
              <a:t>0.88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3AA9DF-3E04-4F4A-91A0-8EB579C1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81400"/>
            <a:ext cx="41910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01FCE8-32C3-4957-925C-1709D303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Humanity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C5D28D-7865-45A9-BA49-1D1FA306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7528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DE0B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DE0B1"/>
                </a:solidFill>
                <a:latin typeface="Aptos"/>
                <a:ea typeface="Aptos"/>
                <a:cs typeface="Aptos"/>
              </a:rPr>
              <a:t>0.98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46DC0D-AAF5-4DE6-8F2A-9BC901AE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41910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42F4CA-D780-4324-9BE6-81A2AAEB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9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Freshness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CD2BB3-3EE7-4E68-A4AF-E48C4F1C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191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9CD6BE-0572-44FD-9FCF-432D33B0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57700"/>
            <a:ext cx="41910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CFF51C-BA31-4C29-A86D-AEF31448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86300"/>
            <a:ext cx="10668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9F28F"/>
          </a:solidFill>
          <a:ln xmlns:a="http://schemas.openxmlformats.org/drawingml/2006/main" w="9525">
            <a:solidFill>
              <a:srgbClr val="B9F28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E0AB11-9614-4996-AAAE-860EFCDD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3392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ACCEPT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6BBF0D-9C44-49E7-AB9E-94B3B87D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51244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A3022"/>
          </a:solidFill>
          <a:ln xmlns:a="http://schemas.openxmlformats.org/drawingml/2006/main" w="9525">
            <a:solidFill>
              <a:srgbClr val="7DE0B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D30C27-DEFE-4B6E-A959-F279E835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81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IF PASSIVE IS UNCERTAIN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E3BFA5-3595-44E9-AAD1-5932FE9A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765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C76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C76B"/>
                </a:solidFill>
                <a:latin typeface="Aptos"/>
                <a:ea typeface="Aptos"/>
                <a:cs typeface="Aptos"/>
              </a:rPr>
              <a:t>MORE EVIDENCE REQUIRED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6217AF-CE27-4416-8F5E-04346591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90900"/>
            <a:ext cx="361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Reasons stay concrete:</a:t>
            </a:r>
          </a:p>
          <a:p xmlns:a="http://schemas.openxmlformats.org/drawingml/2006/main">
            <a:pPr>
              <a:defRPr sz="14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new device</a:t>
            </a:r>
          </a:p>
          <a:p xmlns:a="http://schemas.openxmlformats.org/drawingml/2006/main">
            <a:pPr>
              <a:defRPr sz="14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insufficient quality</a:t>
            </a:r>
          </a:p>
          <a:p xmlns:a="http://schemas.openxmlformats.org/drawingml/2006/main">
            <a:pPr>
              <a:defRPr sz="14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identity uncertain</a:t>
            </a:r>
          </a:p>
          <a:p xmlns:a="http://schemas.openxmlformats.org/drawingml/2006/main">
            <a:pPr>
              <a:defRPr sz="14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active check issued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EB91AB-5421-4518-AD5F-3B7FBF20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86300"/>
            <a:ext cx="16573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C76B"/>
          </a:solidFill>
          <a:ln xmlns:a="http://schemas.openxmlformats.org/drawingml/2006/main" w="9525">
            <a:solidFill>
              <a:srgbClr val="F4C76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CB1EE3-F219-4656-BA93-3909C890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33925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ACTIVE CHALLENGE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0A336B-BBC5-4218-A1D3-00B742BF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91F344-B1A6-481F-BFBA-6CF989C8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28811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9F8A4C-28BC-4470-B63F-D2C36780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RESEARCH + DEPLOYMENT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EE1ED0-5ABF-4D77-B6F7-4D622DB8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We built the measurement loop before claiming performance.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023165-B273-494B-AC63-48794FB8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The system separates implementation progress from biometric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07A6B0-68CA-48D7-88E3-C5C891F9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28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E0B1"/>
          </a:solidFill>
          <a:ln xmlns:a="http://schemas.openxmlformats.org/drawingml/2006/main" w="0">
            <a:solidFill>
              <a:srgbClr val="7DE0B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F6DE9B-2CC7-4112-9B6E-A6A1844C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33625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A35E77-677C-4864-8C43-4F2C17F4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CAPTURE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1F35A6-FF39-4CAA-A302-DFF6128A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Export sanitized passive or paired login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7AA140-5A9B-40AB-A0DA-1314092B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419350"/>
            <a:ext cx="333375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0FBC0A-6A19-4BE8-B1F3-01B93520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28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E0B1"/>
          </a:solidFill>
          <a:ln xmlns:a="http://schemas.openxmlformats.org/drawingml/2006/main" w="0">
            <a:solidFill>
              <a:srgbClr val="7DE0B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74501C-3007-4C50-9A8E-3C74970F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33625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50E11B-E9B2-417A-A84D-E633902A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956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LABEL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D22288-3AF6-49C9-9165-A0DD79F6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194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Add subject, attack, device and split labels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CFBBCD-533B-4898-BE9F-E8F244C2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419350"/>
            <a:ext cx="333375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D8186E-DC92-4E60-8A81-A67341EF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28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E0B1"/>
          </a:solidFill>
          <a:ln xmlns:a="http://schemas.openxmlformats.org/drawingml/2006/main" w="0">
            <a:solidFill>
              <a:srgbClr val="7DE0B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886D09-A361-4AB9-ADE6-BA2CAD03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33625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26FEC9-FCBF-4C3A-BB3C-3CBF32AF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956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EVALUATE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34EC60-EF0E-4D95-A480-E7366E81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194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Validation thresholds, held-out test, FAR / FRR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53751B-A46A-4A4F-849F-A24D6630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419350"/>
            <a:ext cx="333375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895BE0-9323-4963-A76A-2068C832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28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28F"/>
          </a:solidFill>
          <a:ln xmlns:a="http://schemas.openxmlformats.org/drawingml/2006/main" w="0">
            <a:solidFill>
              <a:srgbClr val="B9F28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15D945-C332-41F6-BFD8-9C871BEB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33625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7E91C9-AC6D-4C58-9727-882388C2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956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80C7C9-6A0C-45CA-B964-1E7B5427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194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Policy checks versions, coverage and ceilings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2A8E6F-3D51-4B3E-BB2B-500318D3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08204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914384-013D-4960-90A1-C59319A3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Current status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0E0ACD-8398-49FD-AA36-26B8D333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33950"/>
            <a:ext cx="923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Synthetic and HTTP smoke checks pass. No real participant study has been run.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E433B2-F56F-446C-B8D7-EFB40572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610100"/>
            <a:ext cx="2000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C76B"/>
          </a:solidFill>
          <a:ln xmlns:a="http://schemas.openxmlformats.org/drawingml/2006/main" w="9525">
            <a:solidFill>
              <a:srgbClr val="F4C76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D3FAC7-64D5-4403-AAF4-A38F96CF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657725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NO PERFORMANCE CLAIM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1A1E72-AC9D-4F9B-A507-468A164D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Next proof point: separate-day genuine sessions, impostor attempts, browser/device coverage and longitudinal drift data.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94C724-7365-4024-B839-DA99D660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78CBAE-3B7C-4449-87F4-63DD6AA4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514603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ACF129-9C77-46EC-B763-A7004635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TEST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532885-4DA5-4356-A481-B1807B16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What we test, from code to deployment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D412E2-B38C-47DE-B811-1BE575CD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The checks move from fast local feedback to evidence that can support a policy decision.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5CADAB-0391-47A4-B0BA-8C34AC5C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62200" cy="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B9F28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C047B5-1A95-4BF0-AFA5-3C12C61B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2019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CODE HEALTH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AD1E71-0833-46B4-89B5-3D636F5B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38425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JavaScript syntax</a:t>
            </a:r>
          </a:p>
          <a:p xmlns:a="http://schemas.openxmlformats.org/drawingml/2006/main">
            <a:pPr>
              <a:defRPr sz="11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package/version consistency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1DDBE5-FDCC-4838-9320-26099443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90750"/>
            <a:ext cx="2362200" cy="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7DE0B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7B4FDA-78EC-4C7A-B741-C01B83EB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62200"/>
            <a:ext cx="2019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DE0B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DE0B1"/>
                </a:solidFill>
                <a:latin typeface="Aptos"/>
                <a:ea typeface="Aptos"/>
                <a:cs typeface="Aptos"/>
              </a:rPr>
              <a:t>CORE SMOKE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DA9DCC-C2DD-4DE6-8CAD-76CC7463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38425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Enrollment, login zones</a:t>
            </a:r>
          </a:p>
          <a:p xmlns:a="http://schemas.openxmlformats.org/drawingml/2006/main">
            <a:pPr>
              <a:defRPr sz="11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replay, malformed telemetry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BB8CEE-FE69-418F-BB9F-276D657F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2362200" cy="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F4C76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D5DE50-87FD-4088-811F-78831DEE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62200"/>
            <a:ext cx="2019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4C76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C76B"/>
                </a:solidFill>
                <a:latin typeface="Aptos"/>
                <a:ea typeface="Aptos"/>
                <a:cs typeface="Aptos"/>
              </a:rPr>
              <a:t>INTEGRATION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5FBCA0-975C-42E8-A90D-8BEE3EB4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38425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HTTP routes, cookies</a:t>
            </a:r>
          </a:p>
          <a:p xmlns:a="http://schemas.openxmlformats.org/drawingml/2006/main">
            <a:pPr>
              <a:defRPr sz="11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password boundary, persistence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8B1435-F55D-44D7-BABA-1D58391D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90750"/>
            <a:ext cx="2362200" cy="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B9F28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E08937-9D58-43CE-B3B7-FC45E0B4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62200"/>
            <a:ext cx="2019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BROWSER UX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3A187E-156F-4C83-991B-E1903BDB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38425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Normal form, step-up</a:t>
            </a:r>
          </a:p>
          <a:p xmlns:a="http://schemas.openxmlformats.org/drawingml/2006/main">
            <a:pPr>
              <a:defRPr sz="11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monitor controls, console scan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270DBD-6C57-4890-BB1D-82AE99B9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95750"/>
            <a:ext cx="2362200" cy="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7DE0B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96E01A-9A52-4B58-91CC-4808D63E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67200"/>
            <a:ext cx="2019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DE0B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DE0B1"/>
                </a:solidFill>
                <a:latin typeface="Aptos"/>
                <a:ea typeface="Aptos"/>
                <a:cs typeface="Aptos"/>
              </a:rPr>
              <a:t>ALGORITHM CHECKS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931B7E-FF5B-4453-BD8A-FFB0E6DE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543425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DTW, touch paths, target radius</a:t>
            </a:r>
          </a:p>
          <a:p xmlns:a="http://schemas.openxmlformats.org/drawingml/2006/main">
            <a:pPr>
              <a:defRPr sz="11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optional motion / pen / scroll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F50F16-97D5-4696-94DA-01C352D8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095750"/>
            <a:ext cx="2362200" cy="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FF8E8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A79D98-21B0-4229-B0D2-8F14BC56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267200"/>
            <a:ext cx="2019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8E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8E86"/>
                </a:solidFill>
                <a:latin typeface="Aptos"/>
                <a:ea typeface="Aptos"/>
                <a:cs typeface="Aptos"/>
              </a:rPr>
              <a:t>SECURITY CHECKS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8D1359-8D6E-4D10-929D-2DB78688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543425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Binding, expiry, replay</a:t>
            </a:r>
          </a:p>
          <a:p xmlns:a="http://schemas.openxmlformats.org/drawingml/2006/main">
            <a:pPr>
              <a:defRPr sz="11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device enrollment, migration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27A211-5D81-41E1-8002-F1DDC30F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95750"/>
            <a:ext cx="2362200" cy="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B9F28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F090C5-2CD3-46A4-A709-1BCCEB39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67200"/>
            <a:ext cx="2019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RESEARCH GATE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792DB9-C754-42F1-8C72-D9372DDC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43425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Session splits, FAR / FRR</a:t>
            </a:r>
          </a:p>
          <a:p xmlns:a="http://schemas.openxmlformats.org/drawingml/2006/main">
            <a:pPr>
              <a:defRPr sz="11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policy version and sample ceilings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D43C95-FF91-40EB-8016-5EAD7ECD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38425"/>
            <a:ext cx="45720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C8A45F-0CC8-4C59-AB2E-7D148E66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38425"/>
            <a:ext cx="45720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326B8C-7667-48FA-8F11-B97BEB54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38425"/>
            <a:ext cx="45720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6BC85D-CEBA-47CC-A2FE-022E7BD2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086100"/>
            <a:ext cx="1409700" cy="10096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EAFF3D-61A3-4DAF-87BD-2B31D7A1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86100"/>
            <a:ext cx="1409700" cy="10096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4EB418-ECD1-4C56-A7C9-1254BF04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86100"/>
            <a:ext cx="1409700" cy="10096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31DE63-6875-4961-8917-628128D5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86100"/>
            <a:ext cx="1181100" cy="10096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83DCD3-38DC-48E7-BBDA-F23B228C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A3022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1A69A9-3E0F-4C30-BD98-A8807704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05475"/>
            <a:ext cx="1043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C76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C76B"/>
                </a:solidFill>
                <a:latin typeface="Aptos"/>
                <a:ea typeface="Aptos"/>
                <a:cs typeface="Aptos"/>
              </a:rPr>
              <a:t>Current boundary: synthetic and HTTP checks pass. Real participant and hardware validation still decides whether performance claims are justified.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90EF65-D2EB-4257-A984-461185CF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5A8D7D-6B08-4EE7-9D44-7870C706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990732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7D2E94-29F4-4093-AFD6-C36F124F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THE PITCH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BFB565-59DB-4D50-AA9E-22E6C169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7239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Observe first.</a:t>
            </a:r>
          </a:p>
          <a:p xmlns:a="http://schemas.openxmlformats.org/drawingml/2006/main">
            <a:pPr>
              <a:defRPr sz="36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Ask for more only when necessary.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921A3B-11B8-4CFF-84C2-DB3DF512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7DE0B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7DE0B1"/>
                </a:solidFill>
                <a:latin typeface="Aptos"/>
                <a:ea typeface="Aptos"/>
                <a:cs typeface="Aptos"/>
              </a:rPr>
              <a:t>BioPrint combines low-friction passive verification with a controlled active step-up, while keeping privacy and uncertainty visible.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E841B3-A616-4228-870C-BF97B993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66850"/>
            <a:ext cx="304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A3022"/>
          </a:solidFill>
          <a:ln xmlns:a="http://schemas.openxmlformats.org/drawingml/2006/main" w="9525">
            <a:solidFill>
              <a:srgbClr val="7DE0B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2C0BC7-4F29-413A-B07D-C488D0F7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097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BUILT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5E96EE-DB49-4C88-8636-36E12209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90750"/>
            <a:ext cx="2286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Passive-first flow</a:t>
            </a:r>
          </a:p>
          <a:p xmlns:a="http://schemas.openxmlformats.org/drawingml/2006/main">
            <a:pPr>
              <a:defRPr sz="18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Active step-up</a:t>
            </a:r>
          </a:p>
          <a:p xmlns:a="http://schemas.openxmlformats.org/drawingml/2006/main">
            <a:pPr>
              <a:defRPr sz="18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Robust + DTW matching</a:t>
            </a:r>
          </a:p>
          <a:p xmlns:a="http://schemas.openxmlformats.org/drawingml/2006/main">
            <a:pPr>
              <a:defRPr sz="18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Device lifecycle</a:t>
            </a:r>
          </a:p>
          <a:p xmlns:a="http://schemas.openxmlformats.org/drawingml/2006/main">
            <a:pPr>
              <a:defRPr sz="18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Evaluation gate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1B8E4D-9834-40AC-A929-D494A936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Hackathon demo: local loopback app • fixed demo credential • no external services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BA6AF3-ACE0-4FEE-85BB-1803DEAD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7AC17C-3947-4AFE-A189-B6863555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569216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2026-09-19T21:12:54.1200000Z</dcterms:created>
  <dcterms:modified xsi:type="dcterms:W3CDTF">2026-09-19T21:12:54.1200000Z</dcterms:modified>
</coreProperties>
</file>